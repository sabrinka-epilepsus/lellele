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D21F46F-C93C-484E-A2CF-C43A639E36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92303CA-BD9E-405B-B51C-E7F2ED9E16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95D22BB-0AC8-484A-A900-547F92920B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862415A-B83B-401D-82F6-9FF109D32D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DD6497F9-A7EB-4AE7-9534-D0ED7923AD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F3CF592-2797-4886-ACDE-633F71728C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987067C5-3BB6-4F97-BE2C-C25AE63CE5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CA14D6C0-45BF-4913-8753-A9C190D1AF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1F39A979-ACA4-4D0A-84D3-5316F93BC3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C0C6893A-8A2B-4C94-9DBB-7E415CE8EEF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F77560C4-1A23-41AB-BDE0-3C76702594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B2313FE-9FDF-470C-9C42-95A28A73153B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F94DA0-07C3-415D-BE95-84C387730AAD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A13C5A0-3BD6-4D1A-8306-E94A29E3B8E9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C4E85F-559E-4A91-A5C6-64A8D7E20BBE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557BE4B-1F57-4298-9BD6-FA0815D3A7E8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6957E9F-8E93-4948-A4E4-80FB90121A0D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2D1D84A-BF87-4F94-BF94-8681C35029DF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6C2B2B0-46DB-45CE-AD46-EE247CEAAA3C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D9B288-3BF1-47E4-82AE-BC3E6465E015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6CC86E-3309-42B9-9E3B-8F70779C4385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432070-E4D7-4136-B4FB-7EECE285BE9C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493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2500" lnSpcReduction="9999"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6000" strike="noStrike" u="none">
                <a:solidFill>
                  <a:srgbClr val="111827"/>
                </a:solidFill>
                <a:uFillTx/>
                <a:latin typeface="system-ui"/>
              </a:rPr>
              <a:t>Связь между физическим миром и цифровым изображением</a:t>
            </a:r>
            <a:r>
              <a:rPr b="0" lang="ru-RU" sz="6000" strike="noStrike" u="none">
                <a:solidFill>
                  <a:srgbClr val="2c2c36"/>
                </a:solidFill>
                <a:uFillTx/>
                <a:latin typeface="system-ui"/>
              </a:rPr>
              <a:t> в контексте </a:t>
            </a:r>
            <a:r>
              <a:rPr b="0" lang="ru-RU" sz="6000" strike="noStrike" u="none">
                <a:solidFill>
                  <a:srgbClr val="111827"/>
                </a:solidFill>
                <a:uFillTx/>
                <a:latin typeface="system-ui"/>
              </a:rPr>
              <a:t>медицинской визуализации</a:t>
            </a:r>
            <a:r>
              <a:rPr b="0" lang="ru-RU" sz="6000" strike="noStrike" u="none">
                <a:solidFill>
                  <a:srgbClr val="2c2c36"/>
                </a:solidFill>
                <a:uFillTx/>
                <a:latin typeface="system-ui"/>
              </a:rPr>
              <a:t> (рентген, КТ, МРТ)</a:t>
            </a:r>
            <a:endParaRPr b="0" lang="ru-RU" sz="6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69200" y="295560"/>
            <a:ext cx="11852640" cy="627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5000" lnSpcReduction="9999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Задание 1</a:t>
            </a:r>
            <a:br>
              <a:rPr sz="6000"/>
            </a:b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Так как диагональ монитора должна быть 21-27 дюймов</a:t>
            </a:r>
            <a:r>
              <a:rPr b="0" lang="en-US" sz="6000" strike="noStrike" u="none">
                <a:solidFill>
                  <a:schemeClr val="dk1"/>
                </a:solidFill>
                <a:uFillTx/>
                <a:latin typeface="Calibri Light"/>
              </a:rPr>
              <a:t>, </a:t>
            </a: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то</a:t>
            </a:r>
            <a:br>
              <a:rPr sz="6000"/>
            </a:br>
            <a:r>
              <a:rPr b="0" lang="ru-RU" sz="4000" strike="noStrike" u="none">
                <a:solidFill>
                  <a:schemeClr val="dk1"/>
                </a:solidFill>
                <a:uFillTx/>
                <a:latin typeface="Calibri Light"/>
              </a:rPr>
              <a:t>- измерьте в мм ширину и высоту монитора линейкой</a:t>
            </a:r>
            <a:br>
              <a:rPr sz="4000"/>
            </a:br>
            <a:r>
              <a:rPr b="0" lang="ru-RU" sz="4000" strike="noStrike" u="none">
                <a:solidFill>
                  <a:schemeClr val="dk1"/>
                </a:solidFill>
                <a:uFillTx/>
                <a:latin typeface="Calibri Light"/>
              </a:rPr>
              <a:t>- спросите у квена: вычисли диагональ прямоугольника</a:t>
            </a:r>
            <a:r>
              <a:rPr b="0" lang="en-US" sz="4000" strike="noStrike" u="none">
                <a:solidFill>
                  <a:schemeClr val="dk1"/>
                </a:solidFill>
                <a:uFillTx/>
                <a:latin typeface="Calibri Light"/>
              </a:rPr>
              <a:t>, </a:t>
            </a:r>
            <a:r>
              <a:rPr b="0" lang="ru-RU" sz="4000" strike="noStrike" u="none">
                <a:solidFill>
                  <a:schemeClr val="dk1"/>
                </a:solidFill>
                <a:uFillTx/>
                <a:latin typeface="Calibri Light"/>
              </a:rPr>
              <a:t>если ширина равна </a:t>
            </a:r>
            <a:r>
              <a:rPr b="0" lang="en-US" sz="4000" strike="noStrike" u="none">
                <a:solidFill>
                  <a:schemeClr val="dk1"/>
                </a:solidFill>
                <a:uFillTx/>
                <a:latin typeface="Calibri Light"/>
              </a:rPr>
              <a:t>&lt;</a:t>
            </a:r>
            <a:r>
              <a:rPr b="0" lang="ru-RU" sz="4000" strike="noStrike" u="none">
                <a:solidFill>
                  <a:schemeClr val="dk1"/>
                </a:solidFill>
                <a:uFillTx/>
                <a:latin typeface="Calibri Light"/>
              </a:rPr>
              <a:t>Ваше значение</a:t>
            </a:r>
            <a:r>
              <a:rPr b="0" lang="en-US" sz="4000" strike="noStrike" u="none">
                <a:solidFill>
                  <a:schemeClr val="dk1"/>
                </a:solidFill>
                <a:uFillTx/>
                <a:latin typeface="Calibri Light"/>
              </a:rPr>
              <a:t>&gt;</a:t>
            </a:r>
            <a:r>
              <a:rPr b="0" lang="ru-RU" sz="4000" strike="noStrike" u="none">
                <a:solidFill>
                  <a:schemeClr val="dk1"/>
                </a:solidFill>
                <a:uFillTx/>
                <a:latin typeface="Calibri Light"/>
              </a:rPr>
              <a:t> в мм и длина равна </a:t>
            </a:r>
            <a:r>
              <a:rPr b="0" lang="en-US" sz="4000" strike="noStrike" u="none">
                <a:solidFill>
                  <a:schemeClr val="dk1"/>
                </a:solidFill>
                <a:uFillTx/>
                <a:latin typeface="Calibri Light"/>
              </a:rPr>
              <a:t>&lt;</a:t>
            </a:r>
            <a:r>
              <a:rPr b="0" lang="ru-RU" sz="4000" strike="noStrike" u="none">
                <a:solidFill>
                  <a:schemeClr val="dk1"/>
                </a:solidFill>
                <a:uFillTx/>
                <a:latin typeface="Calibri Light"/>
              </a:rPr>
              <a:t>Ваше значение</a:t>
            </a:r>
            <a:r>
              <a:rPr b="0" lang="en-US" sz="4000" strike="noStrike" u="none">
                <a:solidFill>
                  <a:schemeClr val="dk1"/>
                </a:solidFill>
                <a:uFillTx/>
                <a:latin typeface="Calibri Light"/>
              </a:rPr>
              <a:t>&gt;</a:t>
            </a:r>
            <a:r>
              <a:rPr b="0" lang="ru-RU" sz="4000" strike="noStrike" u="none">
                <a:solidFill>
                  <a:schemeClr val="dk1"/>
                </a:solidFill>
                <a:uFillTx/>
                <a:latin typeface="Calibri Light"/>
              </a:rPr>
              <a:t> в мм</a:t>
            </a:r>
            <a:br>
              <a:rPr sz="4000"/>
            </a:br>
            <a:r>
              <a:rPr b="0" lang="ru-RU" sz="4000" strike="noStrike" u="none">
                <a:solidFill>
                  <a:schemeClr val="dk1"/>
                </a:solidFill>
                <a:uFillTx/>
                <a:latin typeface="Calibri Light"/>
              </a:rPr>
              <a:t>- сфотографируйте значение диагонали в мм</a:t>
            </a:r>
            <a:br>
              <a:rPr sz="4000"/>
            </a:br>
            <a:r>
              <a:rPr b="0" lang="ru-RU" sz="4000" strike="noStrike" u="none">
                <a:solidFill>
                  <a:schemeClr val="dk1"/>
                </a:solidFill>
                <a:uFillTx/>
                <a:latin typeface="Calibri Light"/>
              </a:rPr>
              <a:t>- спросите у квена: какой размер диагонали в дюймах</a:t>
            </a:r>
            <a:r>
              <a:rPr b="0" lang="en-US" sz="4000" strike="noStrike" u="none">
                <a:solidFill>
                  <a:schemeClr val="dk1"/>
                </a:solidFill>
                <a:uFillTx/>
                <a:latin typeface="Calibri Light"/>
              </a:rPr>
              <a:t>, </a:t>
            </a:r>
            <a:r>
              <a:rPr b="0" lang="ru-RU" sz="4000" strike="noStrike" u="none">
                <a:solidFill>
                  <a:schemeClr val="dk1"/>
                </a:solidFill>
                <a:uFillTx/>
                <a:latin typeface="Calibri Light"/>
              </a:rPr>
              <a:t>если сейчас он &lt;</a:t>
            </a:r>
            <a:r>
              <a:rPr b="0" lang="en-US" sz="4000" strike="noStrike" u="none">
                <a:solidFill>
                  <a:schemeClr val="dk1"/>
                </a:solidFill>
                <a:uFillTx/>
                <a:latin typeface="Calibri Light"/>
              </a:rPr>
              <a:t>В</a:t>
            </a:r>
            <a:r>
              <a:rPr b="0" lang="ru-RU" sz="4000" strike="noStrike" u="none">
                <a:solidFill>
                  <a:schemeClr val="dk1"/>
                </a:solidFill>
                <a:uFillTx/>
                <a:latin typeface="Calibri Light"/>
              </a:rPr>
              <a:t>аше значение</a:t>
            </a:r>
            <a:r>
              <a:rPr b="0" lang="en-US" sz="4000" strike="noStrike" u="none">
                <a:solidFill>
                  <a:schemeClr val="dk1"/>
                </a:solidFill>
                <a:uFillTx/>
                <a:latin typeface="Calibri Light"/>
              </a:rPr>
              <a:t>&gt;</a:t>
            </a:r>
            <a:r>
              <a:rPr b="0" lang="ru-RU" sz="4000" strike="noStrike" u="none">
                <a:solidFill>
                  <a:schemeClr val="dk1"/>
                </a:solidFill>
                <a:uFillTx/>
                <a:latin typeface="Calibri Light"/>
              </a:rPr>
              <a:t> мм</a:t>
            </a:r>
            <a:br>
              <a:rPr sz="4000"/>
            </a:br>
            <a:r>
              <a:rPr b="0" lang="ru-RU" sz="4000" strike="noStrike" u="none">
                <a:solidFill>
                  <a:schemeClr val="dk1"/>
                </a:solidFill>
                <a:uFillTx/>
                <a:latin typeface="Calibri Light"/>
              </a:rPr>
              <a:t>- сфотографируйте значение диагонали в дюймах</a:t>
            </a:r>
            <a:endParaRPr b="0" lang="ru-RU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Заголовок 1"/>
          <p:cNvSpPr/>
          <p:nvPr/>
        </p:nvSpPr>
        <p:spPr>
          <a:xfrm>
            <a:off x="169200" y="128160"/>
            <a:ext cx="11852640" cy="627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 fontScale="85000" lnSpcReduction="9999"/>
          </a:bodyPr>
          <a:p>
            <a:pPr defTabSz="914400">
              <a:lnSpc>
                <a:spcPct val="90000"/>
              </a:lnSpc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Задание 2</a:t>
            </a:r>
            <a:endParaRPr b="0" lang="ru-RU" sz="6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ru-RU" sz="5800" strike="noStrike" u="none">
                <a:solidFill>
                  <a:schemeClr val="dk1"/>
                </a:solidFill>
                <a:uFillTx/>
                <a:latin typeface="Calibri Light"/>
              </a:rPr>
              <a:t>Так как для работы с медицинскими изображениями рекомендуется разрешение экрана не ниже 1920×1080</a:t>
            </a:r>
            <a:r>
              <a:rPr b="0" lang="en-US" sz="5800" strike="noStrike" u="none">
                <a:solidFill>
                  <a:schemeClr val="dk1"/>
                </a:solidFill>
                <a:uFillTx/>
                <a:latin typeface="Calibri Light"/>
              </a:rPr>
              <a:t>, т</a:t>
            </a:r>
            <a:r>
              <a:rPr b="0" lang="ru-RU" sz="5800" strike="noStrike" u="none">
                <a:solidFill>
                  <a:schemeClr val="dk1"/>
                </a:solidFill>
                <a:uFillTx/>
                <a:latin typeface="Calibri Light"/>
              </a:rPr>
              <a:t>о</a:t>
            </a:r>
            <a:br>
              <a:rPr sz="6000"/>
            </a:br>
            <a:r>
              <a:rPr b="0" lang="ru-RU" sz="4000" strike="noStrike" u="none">
                <a:solidFill>
                  <a:schemeClr val="dk1"/>
                </a:solidFill>
                <a:uFillTx/>
                <a:latin typeface="Calibri Light"/>
              </a:rPr>
              <a:t>- спросите у квена: что такое разрешение экрана</a:t>
            </a:r>
            <a:br>
              <a:rPr sz="4000"/>
            </a:br>
            <a:r>
              <a:rPr b="0" lang="ru-RU" sz="4000" strike="noStrike" u="none">
                <a:solidFill>
                  <a:schemeClr val="dk1"/>
                </a:solidFill>
                <a:uFillTx/>
                <a:latin typeface="Calibri Light"/>
              </a:rPr>
              <a:t>- спросите у квена: как определить разрешение экрана в Астра Линукс</a:t>
            </a:r>
            <a:br>
              <a:rPr sz="4000"/>
            </a:br>
            <a:r>
              <a:rPr b="0" lang="ru-RU" sz="4000" strike="noStrike" u="none">
                <a:solidFill>
                  <a:schemeClr val="dk1"/>
                </a:solidFill>
                <a:uFillTx/>
                <a:latin typeface="Calibri Light"/>
              </a:rPr>
              <a:t>- определите разрешение своего экрана компьютера</a:t>
            </a:r>
            <a:endParaRPr b="0" lang="ru-RU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ru-RU" sz="4000" strike="noStrike" u="none">
                <a:solidFill>
                  <a:schemeClr val="dk1"/>
                </a:solidFill>
                <a:uFillTx/>
                <a:latin typeface="Calibri Light"/>
              </a:rPr>
              <a:t>- сфотографируйте разрешение экрана компьютера</a:t>
            </a:r>
            <a:endParaRPr b="0" lang="ru-RU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Заголовок 1"/>
          <p:cNvSpPr/>
          <p:nvPr/>
        </p:nvSpPr>
        <p:spPr>
          <a:xfrm>
            <a:off x="169200" y="128160"/>
            <a:ext cx="11852640" cy="627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 fontScale="77500" lnSpcReduction="19999"/>
          </a:bodyPr>
          <a:p>
            <a:pPr defTabSz="914400">
              <a:lnSpc>
                <a:spcPct val="90000"/>
              </a:lnSpc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Задание 3</a:t>
            </a:r>
            <a:br>
              <a:rPr sz="6000"/>
            </a:br>
            <a:r>
              <a:rPr b="0" lang="ru-RU" sz="5800" strike="noStrike" u="none">
                <a:solidFill>
                  <a:schemeClr val="dk1"/>
                </a:solidFill>
                <a:uFillTx/>
                <a:latin typeface="Calibri Light"/>
              </a:rPr>
              <a:t>Как разрешение связано с размером монитора</a:t>
            </a:r>
            <a:endParaRPr b="0" lang="ru-RU" sz="5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br>
              <a:rPr sz="6000"/>
            </a:br>
            <a:r>
              <a:rPr b="0" lang="ru-RU" sz="4000" strike="noStrike" u="none">
                <a:solidFill>
                  <a:schemeClr val="dk1"/>
                </a:solidFill>
                <a:uFillTx/>
                <a:latin typeface="Calibri Light"/>
                <a:ea typeface="Tahoma"/>
              </a:rPr>
              <a:t>- спросите у квена:</a:t>
            </a:r>
            <a:r>
              <a:rPr b="0" lang="en-US" sz="4000" strike="noStrike" u="none">
                <a:solidFill>
                  <a:schemeClr val="dk1"/>
                </a:solidFill>
                <a:uFillTx/>
                <a:latin typeface="Calibri Light"/>
                <a:ea typeface="Tahoma"/>
              </a:rPr>
              <a:t> </a:t>
            </a: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  <a:ea typeface="Tahoma"/>
              </a:rPr>
              <a:t>Оценить, какой объем памяти нужно на год работы на флешке</a:t>
            </a:r>
            <a:br>
              <a:rPr sz="6000"/>
            </a:br>
            <a:r>
              <a:rPr b="1" lang="ru-RU" sz="4000" strike="noStrike" u="sng">
                <a:solidFill>
                  <a:schemeClr val="dk1"/>
                </a:solidFill>
                <a:uFillTx/>
                <a:latin typeface="Calibri Light"/>
                <a:ea typeface="Tahoma"/>
              </a:rPr>
              <a:t>Колич-во байт(объем)=разрешение х байт_на_пиксель х коэффициент сжатия х время</a:t>
            </a:r>
            <a:endParaRPr b="0" lang="ru-RU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 Light"/>
                <a:ea typeface="Tahoma"/>
              </a:rPr>
              <a:t>У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en" sz="4000" strike="noStrike" u="none">
                <a:solidFill>
                  <a:srgbClr val="000000"/>
                </a:solidFill>
                <a:uFillTx/>
                <a:latin typeface="Calibri"/>
                <a:ea typeface="Tahoma"/>
              </a:rPr>
              <a:t>c</a:t>
            </a:r>
            <a:br>
              <a:rPr sz="4000"/>
            </a:br>
            <a:r>
              <a:rPr b="0" lang="ru-RU" sz="4000" strike="noStrike" u="none">
                <a:solidFill>
                  <a:schemeClr val="dk1"/>
                </a:solidFill>
                <a:uFillTx/>
                <a:latin typeface="Calibri Light"/>
                <a:ea typeface="Tahoma"/>
              </a:rPr>
              <a:t>- где изображение четче: на экране смартфона или мониторе? Почему?</a:t>
            </a:r>
            <a:endParaRPr b="0" lang="ru-RU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Заголовок 1"/>
          <p:cNvSpPr/>
          <p:nvPr/>
        </p:nvSpPr>
        <p:spPr>
          <a:xfrm>
            <a:off x="0" y="128160"/>
            <a:ext cx="12191040" cy="67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 fontScale="85000" lnSpcReduction="19999"/>
          </a:bodyPr>
          <a:p>
            <a:pPr defTabSz="914400">
              <a:lnSpc>
                <a:spcPct val="90000"/>
              </a:lnSpc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Задание 4</a:t>
            </a:r>
            <a:br>
              <a:rPr sz="6000"/>
            </a:b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Сколько байт занимает один пиксель</a:t>
            </a:r>
            <a:endParaRPr b="0" lang="ru-RU" sz="6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ru-RU" sz="6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br>
              <a:rPr sz="6000"/>
            </a:br>
            <a:endParaRPr b="0" lang="ru-RU" sz="6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ru-RU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ru-RU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ru-RU" sz="4000" strike="noStrike" u="sng">
                <a:solidFill>
                  <a:srgbClr val="002060"/>
                </a:solidFill>
                <a:uFillTx/>
                <a:latin typeface="Calibri Light"/>
              </a:rPr>
              <a:t>Колич-во байт(объем)=разрешение х байт_на_пиксель</a:t>
            </a:r>
            <a:endParaRPr b="0" lang="ru-RU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ru-RU" sz="2600" strike="noStrike" u="none">
                <a:solidFill>
                  <a:schemeClr val="dk1"/>
                </a:solidFill>
                <a:uFillTx/>
                <a:latin typeface="Calibri Light"/>
              </a:rPr>
              <a:t>Пример: Медицинский снимок (16-</a:t>
            </a:r>
            <a:r>
              <a:rPr b="0" lang="en" sz="2600" strike="noStrike" u="none">
                <a:solidFill>
                  <a:schemeClr val="dk1"/>
                </a:solidFill>
                <a:uFillTx/>
                <a:latin typeface="Calibri Light"/>
              </a:rPr>
              <a:t>bit)</a:t>
            </a:r>
            <a:endParaRPr b="0" lang="ru-RU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ru-RU" sz="2600" strike="noStrike" u="none">
                <a:solidFill>
                  <a:schemeClr val="dk1"/>
                </a:solidFill>
                <a:uFillTx/>
                <a:latin typeface="Calibri Light"/>
              </a:rPr>
              <a:t>Разрешение экрана: 2048 × 2048 (стандарт для рентгена)</a:t>
            </a:r>
            <a:endParaRPr b="0" lang="ru-RU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ru-RU" sz="2600" strike="noStrike" u="none">
                <a:solidFill>
                  <a:schemeClr val="dk1"/>
                </a:solidFill>
                <a:uFillTx/>
                <a:latin typeface="Calibri Light"/>
              </a:rPr>
              <a:t>Глубина цвета: 2 Б/пикс</a:t>
            </a:r>
            <a:endParaRPr b="0" lang="ru-RU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ru-RU" sz="2600" strike="noStrike" u="none">
                <a:solidFill>
                  <a:schemeClr val="dk1"/>
                </a:solidFill>
                <a:uFillTx/>
                <a:latin typeface="Calibri Light"/>
              </a:rPr>
              <a:t>Объём: </a:t>
            </a:r>
            <a:r>
              <a:rPr b="0" lang="ru-RU" sz="4000" strike="noStrike" u="none">
                <a:solidFill>
                  <a:schemeClr val="dk1"/>
                </a:solidFill>
                <a:uFillTx/>
                <a:latin typeface="Calibri Light"/>
              </a:rPr>
              <a:t>2048 × 2048 × 2 = 8 388 608 Б ≈ 8.4 МБ</a:t>
            </a:r>
            <a:endParaRPr b="0" lang="ru-RU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54" name="Таблица 5"/>
          <p:cNvGraphicFramePr/>
          <p:nvPr/>
        </p:nvGraphicFramePr>
        <p:xfrm>
          <a:off x="52200" y="1974960"/>
          <a:ext cx="8182800" cy="2898000"/>
        </p:xfrm>
        <a:graphic>
          <a:graphicData uri="http://schemas.openxmlformats.org/drawingml/2006/table">
            <a:tbl>
              <a:tblPr/>
              <a:tblGrid>
                <a:gridCol w="4230000"/>
                <a:gridCol w="1913400"/>
                <a:gridCol w="2039760"/>
              </a:tblGrid>
              <a:tr h="772920">
                <a:tc>
                  <a:txBody>
                    <a:bodyPr lIns="34200" rIns="34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6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Тип изображения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 lIns="34200" rIns="34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6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Бит на пиксель (глубина цвета в битах)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 lIns="34200" rIns="34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6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Байт на пиксель (глубина цвета в байтах)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b0b3b2"/>
                    </a:solidFill>
                  </a:tcPr>
                </a:tc>
              </a:tr>
              <a:tr h="303480">
                <a:tc>
                  <a:txBody>
                    <a:bodyPr lIns="34200" rIns="34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6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Чёрно-белое (1 бит)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 lIns="34200" rIns="34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6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1 бит / 1 пиксел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200" rIns="34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6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0.125 Б / 1 пиксел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03480">
                <a:tc>
                  <a:txBody>
                    <a:bodyPr lIns="34200" rIns="34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6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Оттенки серого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 lIns="34200" rIns="34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6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8 бит / 1 пиксел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200" rIns="34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6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1 Б / 1 пиксел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38200">
                <a:tc>
                  <a:txBody>
                    <a:bodyPr lIns="34200" rIns="34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6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Цветное (</a:t>
                      </a:r>
                      <a:r>
                        <a:rPr b="1" lang="en" sz="16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RGB)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 lIns="34200" rIns="34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6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24 бита / 1 пиксел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200" rIns="34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6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3 Б / 1 пиксел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38200">
                <a:tc>
                  <a:txBody>
                    <a:bodyPr lIns="34200" rIns="34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6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Цветное с прозрачностью (</a:t>
                      </a:r>
                      <a:r>
                        <a:rPr b="1" lang="en" sz="16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RGBA)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 lIns="34200" rIns="34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6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32 бита / 1 пиксел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200" rIns="34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6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4 Б / 1 пиксел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03480">
                <a:tc>
                  <a:txBody>
                    <a:bodyPr lIns="34200" rIns="34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6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Медицинское (16-</a:t>
                      </a:r>
                      <a:r>
                        <a:rPr b="1" lang="en" sz="16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bit DICOM)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 lIns="34200" rIns="34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6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16 бит / 1 пиксел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4200" rIns="34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6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2 Б / 1 пиксел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4200" marR="342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5" name="TextBox 7"/>
          <p:cNvSpPr/>
          <p:nvPr/>
        </p:nvSpPr>
        <p:spPr>
          <a:xfrm>
            <a:off x="8378280" y="2171160"/>
            <a:ext cx="366768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rgbClr val="afb1c4"/>
                </a:solidFill>
                <a:uFillTx/>
                <a:latin typeface="system-ui"/>
              </a:rPr>
              <a:t>💡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В рентгенах, КТ, МРТ часто используется 16 бит на пиксель (65 536 оттенков серого), чтобы видеть тонкие различия в плотности тканей. 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Заголовок 1"/>
          <p:cNvSpPr/>
          <p:nvPr/>
        </p:nvSpPr>
        <p:spPr>
          <a:xfrm>
            <a:off x="0" y="292680"/>
            <a:ext cx="11852640" cy="627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 fontScale="85000" lnSpcReduction="9999"/>
          </a:bodyPr>
          <a:p>
            <a:pPr defTabSz="914400">
              <a:lnSpc>
                <a:spcPct val="90000"/>
              </a:lnSpc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Задание 5</a:t>
            </a:r>
            <a:br>
              <a:rPr sz="6000"/>
            </a:br>
            <a:r>
              <a:rPr b="0" lang="ru-RU" sz="5800" strike="noStrike" u="none">
                <a:solidFill>
                  <a:schemeClr val="dk1"/>
                </a:solidFill>
                <a:uFillTx/>
                <a:latin typeface="Calibri Light"/>
              </a:rPr>
              <a:t>Для экономии времени и места файлы с картинками  сжимаются (особенно в медицине)</a:t>
            </a:r>
            <a:br>
              <a:rPr sz="5800"/>
            </a:br>
            <a:endParaRPr b="0" lang="ru-RU" sz="5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ru-RU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ru-RU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ru-RU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ru-RU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ru-RU" sz="4000" strike="noStrike" u="sng">
                <a:solidFill>
                  <a:srgbClr val="002060"/>
                </a:solidFill>
                <a:uFillTx/>
                <a:latin typeface="Calibri Light"/>
              </a:rPr>
              <a:t>Колич-во байт(объем)=разрешение х байт_на_пиксель х коэффициент сжатия</a:t>
            </a:r>
            <a:endParaRPr b="0" lang="ru-RU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57" name="Таблица 3"/>
          <p:cNvGraphicFramePr/>
          <p:nvPr/>
        </p:nvGraphicFramePr>
        <p:xfrm>
          <a:off x="338400" y="3255480"/>
          <a:ext cx="6909120" cy="2489760"/>
        </p:xfrm>
        <a:graphic>
          <a:graphicData uri="http://schemas.openxmlformats.org/drawingml/2006/table">
            <a:tbl>
              <a:tblPr/>
              <a:tblGrid>
                <a:gridCol w="1557360"/>
                <a:gridCol w="2289240"/>
                <a:gridCol w="3062880"/>
              </a:tblGrid>
              <a:tr h="104760">
                <a:tc>
                  <a:txBody>
                    <a:bodyPr lIns="37800" r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Формат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 lIns="37800" r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Тип сжатия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 lIns="37800" r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Коэффициент (примерно)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b0b3b2"/>
                    </a:solidFill>
                  </a:tcPr>
                </a:tc>
              </a:tr>
              <a:tr h="114120">
                <a:tc>
                  <a:txBody>
                    <a:bodyPr lIns="37800" r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JPEG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 lIns="37800" r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С потерями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10:1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6.2 МБ :</a:t>
                      </a: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10 </a:t>
                      </a:r>
                      <a:r>
                        <a:rPr b="0" lang="ru-RU" sz="1800" strike="noStrike" u="none">
                          <a:solidFill>
                            <a:srgbClr val="000000"/>
                          </a:solidFill>
                          <a:uFillTx/>
                          <a:latin typeface="Lucida Grande"/>
                        </a:rPr>
                        <a:t>→</a:t>
                      </a:r>
                      <a:r>
                        <a:rPr b="0" lang="ru-RU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 0.6 МБ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760">
                <a:tc>
                  <a:txBody>
                    <a:bodyPr lIns="37800" r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PNG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 lIns="37800" r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Без потерь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3</a:t>
                      </a:r>
                      <a:r>
                        <a:rPr b="0" lang="ru-RU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:1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6.2 МБ :</a:t>
                      </a: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3 </a:t>
                      </a:r>
                      <a:r>
                        <a:rPr b="0" lang="ru-RU" sz="1800" strike="noStrike" u="none">
                          <a:solidFill>
                            <a:srgbClr val="000000"/>
                          </a:solidFill>
                          <a:uFillTx/>
                          <a:latin typeface="Lucida Grande"/>
                        </a:rPr>
                        <a:t>→</a:t>
                      </a:r>
                      <a:r>
                        <a:rPr b="0" lang="ru-RU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 </a:t>
                      </a: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2</a:t>
                      </a:r>
                      <a:r>
                        <a:rPr b="0" lang="ru-RU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 МБ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760">
                <a:tc>
                  <a:txBody>
                    <a:bodyPr lIns="37800" r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JPEG2000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 lIns="37800" r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Без потерь / с потерями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3</a:t>
                      </a:r>
                      <a:r>
                        <a:rPr b="0" lang="ru-RU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:1 (часто в </a:t>
                      </a:r>
                      <a:r>
                        <a:rPr b="0" lang="en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DICOM)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6.2 МБ :</a:t>
                      </a: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3 </a:t>
                      </a:r>
                      <a:r>
                        <a:rPr b="0" lang="ru-RU" sz="1800" strike="noStrike" u="none">
                          <a:solidFill>
                            <a:srgbClr val="000000"/>
                          </a:solidFill>
                          <a:uFillTx/>
                          <a:latin typeface="Lucida Grande"/>
                        </a:rPr>
                        <a:t>→</a:t>
                      </a:r>
                      <a:r>
                        <a:rPr b="0" lang="ru-RU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 </a:t>
                      </a: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2</a:t>
                      </a:r>
                      <a:r>
                        <a:rPr b="0" lang="ru-RU" sz="1800" strike="noStrike" u="none">
                          <a:solidFill>
                            <a:srgbClr val="000000"/>
                          </a:solidFill>
                          <a:uFillTx/>
                          <a:latin typeface="Helvetica Neue"/>
                        </a:rPr>
                        <a:t> МБ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Заголовок 1"/>
          <p:cNvSpPr/>
          <p:nvPr/>
        </p:nvSpPr>
        <p:spPr>
          <a:xfrm>
            <a:off x="104400" y="292680"/>
            <a:ext cx="11852640" cy="627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 fontScale="85000" lnSpcReduction="9999"/>
          </a:bodyPr>
          <a:p>
            <a:pPr defTabSz="914400">
              <a:lnSpc>
                <a:spcPct val="90000"/>
              </a:lnSpc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Задание 6</a:t>
            </a:r>
            <a:br>
              <a:rPr sz="6000"/>
            </a:b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Оценить, какой объем памяти нужно на год работы на флешке</a:t>
            </a:r>
            <a:br>
              <a:rPr sz="6000"/>
            </a:br>
            <a:r>
              <a:rPr b="1" lang="ru-RU" sz="4000" strike="noStrike" u="sng">
                <a:solidFill>
                  <a:srgbClr val="002060"/>
                </a:solidFill>
                <a:uFillTx/>
                <a:latin typeface="Calibri Light"/>
              </a:rPr>
              <a:t>Колич-во байт(объем)=разрешение х байт_на_пиксель х коэффициент сжатия х время</a:t>
            </a:r>
            <a:endParaRPr b="0" lang="ru-RU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 Light"/>
              </a:rPr>
              <a:t>У вас каждый день 1000 снимков рентгена грудной клетки: 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 Light"/>
              </a:rPr>
              <a:t>Разрешение: 2500 × 3000 пикселей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 Light"/>
              </a:rPr>
              <a:t>Глубина: 16 бит = 2 байта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 Light"/>
              </a:rPr>
              <a:t>Сжатие: </a:t>
            </a:r>
            <a:r>
              <a:rPr b="0" lang="en" sz="2400" strike="noStrike" u="none">
                <a:solidFill>
                  <a:schemeClr val="dk1"/>
                </a:solidFill>
                <a:uFillTx/>
                <a:latin typeface="Calibri Light"/>
              </a:rPr>
              <a:t>JPEG2000, </a:t>
            </a:r>
            <a:r>
              <a:rPr b="0" lang="ru-RU" sz="2400" strike="noStrike" u="none">
                <a:solidFill>
                  <a:schemeClr val="dk1"/>
                </a:solidFill>
                <a:uFillTx/>
                <a:latin typeface="Calibri Light"/>
              </a:rPr>
              <a:t>коэффициент 3:1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 Light"/>
              </a:rPr>
              <a:t>Год = 365 дней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en-US" sz="4000" strike="noStrike" u="none">
                <a:solidFill>
                  <a:schemeClr val="dk1"/>
                </a:solidFill>
                <a:uFillTx/>
                <a:latin typeface="Calibri Light"/>
              </a:rPr>
              <a:t>П</a:t>
            </a:r>
            <a:r>
              <a:rPr b="0" lang="ru-RU" sz="4000" strike="noStrike" u="none">
                <a:solidFill>
                  <a:schemeClr val="dk1"/>
                </a:solidFill>
                <a:uFillTx/>
                <a:latin typeface="Calibri Light"/>
              </a:rPr>
              <a:t>родаются ли такие флешки? А смартфоны с таким объемом?</a:t>
            </a:r>
            <a:endParaRPr b="0" lang="ru-RU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</TotalTime>
  <Application>LibreOffice/24.8.4.2$Linux_X86_64 LibreOffice_project/480$Build-2</Application>
  <AppVersion>15.0000</AppVersion>
  <Words>561</Words>
  <Paragraphs>66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2025-10-12T13:20:49Z</dcterms:created>
  <dc:creator>Елена Демидова</dc:creator>
  <dc:description/>
  <dc:language>ru-RU</dc:language>
  <cp:lastModifiedBy/>
  <dcterms:modified xsi:type="dcterms:W3CDTF">2025-10-15T12:20:47Z</dcterms:modified>
  <cp:revision>44</cp:revision>
  <dc:subject/>
  <dc:title>Связь между физическим миром и цифровым изображением в контексте медицинской визуализации (рентген, КТ, МРТ)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7</vt:i4>
  </property>
</Properties>
</file>